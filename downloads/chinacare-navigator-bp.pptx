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8c5b68f35341fe" /><Relationship Type="http://schemas.openxmlformats.org/officeDocument/2006/relationships/extended-properties" Target="/docProps/app.xml" Id="Rec0ea95723724f24" /><Relationship Type="http://schemas.openxmlformats.org/officeDocument/2006/relationships/officeDocument" Target="/ppt/presentation.xml" Id="Rd3d5a86675324d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79a5bc96ff4c66"/>
  </p:sldMasterIdLst>
  <p:notesMasterIdLst>
    <p:notesMasterId xmlns:r="http://schemas.openxmlformats.org/officeDocument/2006/relationships" r:id="Rd7072525443a4e4c"/>
  </p:notesMasterIdLst>
  <p:sldIdLst>
    <p:sldId xmlns:r="http://schemas.openxmlformats.org/officeDocument/2006/relationships" id="256" r:id="R43544404f44340c8"/>
    <p:sldId xmlns:r="http://schemas.openxmlformats.org/officeDocument/2006/relationships" id="257" r:id="Raa49819686fb425f"/>
    <p:sldId xmlns:r="http://schemas.openxmlformats.org/officeDocument/2006/relationships" id="258" r:id="Re4801f4cfc074291"/>
    <p:sldId xmlns:r="http://schemas.openxmlformats.org/officeDocument/2006/relationships" id="259" r:id="R45920932f0e44d88"/>
    <p:sldId xmlns:r="http://schemas.openxmlformats.org/officeDocument/2006/relationships" id="260" r:id="Rbf79a8dbd2ff4154"/>
    <p:sldId xmlns:r="http://schemas.openxmlformats.org/officeDocument/2006/relationships" id="261" r:id="Rd813fbd9cd6e4ff5"/>
    <p:sldId xmlns:r="http://schemas.openxmlformats.org/officeDocument/2006/relationships" id="262" r:id="R4eaf4095a77648e1"/>
    <p:sldId xmlns:r="http://schemas.openxmlformats.org/officeDocument/2006/relationships" id="263" r:id="R8154148ff21440bd"/>
    <p:sldId xmlns:r="http://schemas.openxmlformats.org/officeDocument/2006/relationships" id="264" r:id="R726369e99f5743f2"/>
    <p:sldId xmlns:r="http://schemas.openxmlformats.org/officeDocument/2006/relationships" id="265" r:id="R4665a7fd1a9940d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478c99e36e4a9a" /><Relationship Type="http://schemas.openxmlformats.org/officeDocument/2006/relationships/slideMaster" Target="/ppt/slideMasters/slideMaster1.xml" Id="R1c79a5bc96ff4c66" /><Relationship Type="http://schemas.openxmlformats.org/officeDocument/2006/relationships/notesMaster" Target="/ppt/notesMasters/notesMaster1.xml" Id="Rd7072525443a4e4c" /><Relationship Type="http://schemas.openxmlformats.org/officeDocument/2006/relationships/presProps" Target="/ppt/presProps.xml" Id="Re20d6d65c89e4807" /><Relationship Type="http://schemas.openxmlformats.org/officeDocument/2006/relationships/viewProps" Target="/ppt/viewProps.xml" Id="R015a9b80d4064cfa" /><Relationship Type="http://schemas.openxmlformats.org/officeDocument/2006/relationships/tableStyles" Target="/ppt/tableStyles.xml" Id="Rb1a7f1387189411e" /><Relationship Type="http://schemas.openxmlformats.org/officeDocument/2006/relationships/slide" Target="/ppt/slides/slide1.xml" Id="R43544404f44340c8" /><Relationship Type="http://schemas.openxmlformats.org/officeDocument/2006/relationships/slide" Target="/ppt/slides/slide2.xml" Id="Raa49819686fb425f" /><Relationship Type="http://schemas.openxmlformats.org/officeDocument/2006/relationships/slide" Target="/ppt/slides/slide3.xml" Id="Re4801f4cfc074291" /><Relationship Type="http://schemas.openxmlformats.org/officeDocument/2006/relationships/slide" Target="/ppt/slides/slide4.xml" Id="R45920932f0e44d88" /><Relationship Type="http://schemas.openxmlformats.org/officeDocument/2006/relationships/slide" Target="/ppt/slides/slide5.xml" Id="Rbf79a8dbd2ff4154" /><Relationship Type="http://schemas.openxmlformats.org/officeDocument/2006/relationships/slide" Target="/ppt/slides/slide6.xml" Id="Rd813fbd9cd6e4ff5" /><Relationship Type="http://schemas.openxmlformats.org/officeDocument/2006/relationships/slide" Target="/ppt/slides/slide7.xml" Id="R4eaf4095a77648e1" /><Relationship Type="http://schemas.openxmlformats.org/officeDocument/2006/relationships/slide" Target="/ppt/slides/slide8.xml" Id="R8154148ff21440bd" /><Relationship Type="http://schemas.openxmlformats.org/officeDocument/2006/relationships/slide" Target="/ppt/slides/slide9.xml" Id="R726369e99f5743f2" /><Relationship Type="http://schemas.openxmlformats.org/officeDocument/2006/relationships/slide" Target="/ppt/slides/slide10.xml" Id="R4665a7fd1a9940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6375e2363d40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de73d3092e4eb1" /><Relationship Type="http://schemas.openxmlformats.org/officeDocument/2006/relationships/notesMaster" Target="/ppt/notesMasters/notesMaster1.xml" Id="R76ae59ffeb9443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0053900bd14a6c" /><Relationship Type="http://schemas.openxmlformats.org/officeDocument/2006/relationships/notesMaster" Target="/ppt/notesMasters/notesMaster1.xml" Id="R31f7e040fe8547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3e22d12c7e458d" /><Relationship Type="http://schemas.openxmlformats.org/officeDocument/2006/relationships/notesMaster" Target="/ppt/notesMasters/notesMaster1.xml" Id="R3c4d521bd82441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43590e1ba54b5d" /><Relationship Type="http://schemas.openxmlformats.org/officeDocument/2006/relationships/notesMaster" Target="/ppt/notesMasters/notesMaster1.xml" Id="R7090569868ba49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ea7f65ec38408a" /><Relationship Type="http://schemas.openxmlformats.org/officeDocument/2006/relationships/notesMaster" Target="/ppt/notesMasters/notesMaster1.xml" Id="Rf30eb9d1f8b047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48254e4dcf47bb" /><Relationship Type="http://schemas.openxmlformats.org/officeDocument/2006/relationships/notesMaster" Target="/ppt/notesMasters/notesMaster1.xml" Id="Ra64eb41f193a45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5cfc2522a24598" /><Relationship Type="http://schemas.openxmlformats.org/officeDocument/2006/relationships/notesMaster" Target="/ppt/notesMasters/notesMaster1.xml" Id="Ra6c32968dfd84d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3cfd7a52124c0d" /><Relationship Type="http://schemas.openxmlformats.org/officeDocument/2006/relationships/notesMaster" Target="/ppt/notesMasters/notesMaster1.xml" Id="R1257887ff6e04a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2271d3aed64dcf" /><Relationship Type="http://schemas.openxmlformats.org/officeDocument/2006/relationships/notesMaster" Target="/ppt/notesMasters/notesMaster1.xml" Id="Rfd2232dbd8974f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8a96cbe6b44311" /><Relationship Type="http://schemas.openxmlformats.org/officeDocument/2006/relationships/notesMaster" Target="/ppt/notesMasters/notesMaster1.xml" Id="R9386a3defa5a44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867ff0125749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04250f47524f93" /><Relationship Type="http://schemas.openxmlformats.org/officeDocument/2006/relationships/slideLayout" Target="/ppt/slideLayouts/slideLayout1.xml" Id="Re6669780665a47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669780665a47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f207d1b2b41c4" /><Relationship Type="http://schemas.openxmlformats.org/officeDocument/2006/relationships/notesSlide" Target="/ppt/notesSlides/notesSlide1.xml" Id="Rf9de289988da4a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e6ac497a047f2" /><Relationship Type="http://schemas.openxmlformats.org/officeDocument/2006/relationships/notesSlide" Target="/ppt/notesSlides/notesSlide2.xml" Id="R309230081b4049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fc48690514f4b" /><Relationship Type="http://schemas.openxmlformats.org/officeDocument/2006/relationships/notesSlide" Target="/ppt/notesSlides/notesSlide3.xml" Id="Rdcbc6e0259bf4a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4f182338e4abf" /><Relationship Type="http://schemas.openxmlformats.org/officeDocument/2006/relationships/notesSlide" Target="/ppt/notesSlides/notesSlide4.xml" Id="Red44f7228dca47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9fb02a44f4131" /><Relationship Type="http://schemas.openxmlformats.org/officeDocument/2006/relationships/notesSlide" Target="/ppt/notesSlides/notesSlide5.xml" Id="R77c177224b2249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b4d6387734dea" /><Relationship Type="http://schemas.openxmlformats.org/officeDocument/2006/relationships/notesSlide" Target="/ppt/notesSlides/notesSlide6.xml" Id="R53eb99ee4e5343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c9535b5934919" /><Relationship Type="http://schemas.openxmlformats.org/officeDocument/2006/relationships/notesSlide" Target="/ppt/notesSlides/notesSlide7.xml" Id="Rf1eafcedf67d4b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445e05ba441df" /><Relationship Type="http://schemas.openxmlformats.org/officeDocument/2006/relationships/notesSlide" Target="/ppt/notesSlides/notesSlide8.xml" Id="R709af4a2861046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399f761894037" /><Relationship Type="http://schemas.openxmlformats.org/officeDocument/2006/relationships/notesSlide" Target="/ppt/notesSlides/notesSlide9.xml" Id="Rc32c466185444a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f4e59be7f4cb8" /><Relationship Type="http://schemas.openxmlformats.org/officeDocument/2006/relationships/notesSlide" Target="/ppt/notesSlides/notesSlide10.xml" Id="R51cc144db44740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67330C-B2A4-4362-A1C0-5ACA3126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D0724-1B43-4BAC-A152-FCA40CAE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41E56-DD2F-440C-A242-23D38BC7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62000"/>
            <a:ext cx="3048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790CE-2369-43EC-9131-61FD3007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D5D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9BD5D0"/>
                </a:solidFill>
                <a:latin typeface="Aptos Display"/>
                <a:ea typeface="Aptos Display"/>
                <a:cs typeface="Aptos Display"/>
              </a:rPr>
              <a:t>CHINACARE NAVIGATOR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7C86D-784F-4C5D-95DC-C8671432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76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ChinaCare Navigator turns China healthcare access into a navigable product.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8C2B3-FA3E-4339-BE14-7026E360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590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E8E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8E7"/>
                </a:solidFill>
                <a:latin typeface="Aptos"/>
                <a:ea typeface="Aptos"/>
                <a:cs typeface="Aptos"/>
              </a:rPr>
              <a:t>A multilingual operating layer for international patients: medical file preparation, translation, appointment coordination, interpreter support, and insurance-ready documentation.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A2761-D781-4BF3-8082-76DBBD24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266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Non-medical coordination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58E41-5932-4CCB-AC26-A2BB59F4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334000"/>
            <a:ext cx="2266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AI-assisted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BDCB8-8C17-443A-824B-542C34D0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334000"/>
            <a:ext cx="2266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Human-reviewed handoff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7BF15-6C9A-45F2-89BC-F5ED83B9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34000"/>
            <a:ext cx="2266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Patient-paid service fees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58CB3-FCBF-49D6-9A0B-BDC118F0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8E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CE8E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532840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1395C5-2B74-4BE6-91C6-AFE303FB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B3B6E-C2C8-4CF9-B870-F6882D3E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5D62A-A379-4DF7-B906-592D9F3D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60BEE-4063-4240-A291-581F03F8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rPr>
              <a:t>International patients do not lack hospitals; they lack a trusted operating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C427A-8940-4E93-9DBE-A944F74F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D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D78"/>
                </a:solidFill>
                <a:latin typeface="Aptos"/>
                <a:ea typeface="Aptos"/>
                <a:cs typeface="Aptos"/>
              </a:rPr>
              <a:t>The hard parts are records, language, appointment rules, payments, insurance documents, and on-site navigation.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E6A82-122A-4BA6-A3CF-598E7710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Where to go?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09C26-29E0-416A-ACD4-D09729C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What records are needed?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986BE-F8DE-4716-8DB1-0581C2BA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Who translates?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E2B41-7900-443F-A40D-B18B3131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What will insurance accept?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D7967-C47A-449F-8414-04AAC7B1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95350"/>
            <a:ext cx="1333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5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16155-61D0-43F3-A446-029A880F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954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64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364A"/>
                </a:solidFill>
                <a:latin typeface="Aptos Display"/>
                <a:ea typeface="Aptos Display"/>
                <a:cs typeface="Aptos Display"/>
              </a:rPr>
              <a:t>Trust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B4476-EC92-4FBB-AC3A-FDE65C40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0"/>
            <a:ext cx="1047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D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E6D78"/>
                </a:solidFill>
                <a:latin typeface="Aptos"/>
                <a:ea typeface="Aptos"/>
                <a:cs typeface="Aptos"/>
              </a:rPr>
              <a:t>Language</a:t>
            </a:r>
          </a:p>
          <a:p xmlns:a="http://schemas.openxmlformats.org/drawingml/2006/main">
            <a:pPr algn="l">
              <a:defRPr sz="1650" b="0">
                <a:solidFill>
                  <a:srgbClr val="5E6D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E6D78"/>
                </a:solidFill>
                <a:latin typeface="Aptos"/>
                <a:ea typeface="Aptos"/>
                <a:cs typeface="Aptos"/>
              </a:rPr>
              <a:t>Records</a:t>
            </a:r>
          </a:p>
          <a:p xmlns:a="http://schemas.openxmlformats.org/drawingml/2006/main">
            <a:pPr algn="l">
              <a:defRPr sz="1650" b="0">
                <a:solidFill>
                  <a:srgbClr val="5E6D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E6D78"/>
                </a:solidFill>
                <a:latin typeface="Aptos"/>
                <a:ea typeface="Aptos"/>
                <a:cs typeface="Aptos"/>
              </a:rPr>
              <a:t>Insurance</a:t>
            </a:r>
          </a:p>
          <a:p xmlns:a="http://schemas.openxmlformats.org/drawingml/2006/main">
            <a:pPr algn="l">
              <a:defRPr sz="1650" b="0">
                <a:solidFill>
                  <a:srgbClr val="5E6D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E6D78"/>
                </a:solidFill>
                <a:latin typeface="Aptos"/>
                <a:ea typeface="Aptos"/>
                <a:cs typeface="Aptos"/>
              </a:rPr>
              <a:t>On-site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7DF2A-7350-4570-A988-BAF70071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99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899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995585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FE16D5-4008-48B9-9845-756E5D37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82C4E-54E9-4F11-87B3-2FDAB830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67B3A-4C13-4AA7-A2FF-6CC33F33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8C069-F079-4C1A-A0C6-0129FD95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rPr>
              <a:t>Start with files and coordination, not diagnosis.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2B02E-F255-4226-BDD3-5AABD691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D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D78"/>
                </a:solidFill>
                <a:latin typeface="Aptos"/>
                <a:ea typeface="Aptos"/>
                <a:cs typeface="Aptos"/>
              </a:rPr>
              <a:t>The platform packages fragmented steps into standard services while keeping clinical decisions inside licensed medical institutions.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FC4D5-A274-4A7D-9D91-7EA27FC8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266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1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Medical File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926F6-5B69-46C4-A253-4A7DC6E5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81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A5727-5A18-4F63-BC89-0665CF6D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2266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Specialist Visit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465C8-FFE2-4C50-9933-CFDD6A7B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ED28C-CAAF-4D31-A2A3-8E3551FD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266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Checkup Starter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B4DD2-A65D-4BEA-A504-D73A5E0F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81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BAE97-0908-4A52-B74E-99445786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33750"/>
            <a:ext cx="2266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Full Visit Companion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8E8FA-BB6E-41A6-8246-FA94AD72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D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D78"/>
                </a:solidFill>
                <a:latin typeface="Aptos"/>
                <a:ea typeface="Aptos"/>
                <a:cs typeface="Aptos"/>
              </a:rPr>
              <a:t>Service fees stay separate from medical institution fees.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4CCFE-0941-48CF-8A3B-676F54B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99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899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321462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503CF7-1344-49A4-AC6A-744F3CCF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3093D-A5FC-4EEE-B851-DD5D94E8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183A3-08AE-4F0F-8DCF-3EC16E88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rPr>
              <a:t>MARKET LANES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311E8-580A-4C90-B971-DF0C0F88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rPr>
              <a:t>Cold start through focused language and travel corridors.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41E4E-AB9E-4AB0-B375-26EA7434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D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D78"/>
                </a:solidFill>
                <a:latin typeface="Aptos"/>
                <a:ea typeface="Aptos"/>
                <a:cs typeface="Aptos"/>
              </a:rPr>
              <a:t>The launch plan avoids vague global expansion and tests four concrete customer lanes.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90561-9209-437A-A8BA-A89A515A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1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Russian-speaking patients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9E0C7-4981-43C0-8991-CBF7130D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004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6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English-speaking executives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6F613-EFD8-4C45-84BB-31604877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004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E8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Gulf VIP visits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923FE-0B43-4133-A90A-A0D63988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004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5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Korea short-trip add-ons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5AC54-AEB3-4FC8-AD99-B3425729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D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D78"/>
                </a:solidFill>
                <a:latin typeface="Aptos"/>
                <a:ea typeface="Aptos"/>
                <a:cs typeface="Aptos"/>
              </a:rPr>
              <a:t>Focus beats generic global expansion.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B40D2-EC12-49DF-AB0C-B4C57F7A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99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899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05282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22C5AF-5C2C-4D03-AB84-65DEFDB5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71637-2360-4C34-AAA6-4C6E755A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11D9D-6E35-40F2-B97B-A50F7058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rPr>
              <a:t>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50A78-3D7B-4C84-94CB-B1F0A90D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rPr>
              <a:t>The highest-margin wedge is documentation before travel.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7457B-DD03-4929-B886-B6BD4102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D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D78"/>
                </a:solidFill>
                <a:latin typeface="Aptos"/>
                <a:ea typeface="Aptos"/>
                <a:cs typeface="Aptos"/>
              </a:rPr>
              <a:t>Medical File Pack and Insurance Pack create early paid conversion before heavy appointment or visit-companion work begins.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AEF7B-5EAA-4191-BDEF-0318EB03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266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418CB-D15A-441F-8F92-4661F5F3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rPr>
              <a:t>USD 199+ File Pack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B215D-FDAD-412F-B78F-9BBD5B0F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rPr>
              <a:t>USD 199+ File Pack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38ADF-6538-495D-BFC5-51EE7969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43250"/>
            <a:ext cx="2266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FACFC-4A54-4BEF-A138-73E50276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rPr>
              <a:t>USD 399+ Specialist Visit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5B074-3543-447D-B7FA-8FEC6012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rPr>
              <a:t>USD 399+ Specialist Visit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04DAB-B6D9-4E95-8894-6E900102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2266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DC8AF-D976-497F-9A78-F9C2D9D4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rPr>
              <a:t>USD 499+ Checkup Starter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090F0-06B7-4420-8F47-FECDB49D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rPr>
              <a:t>USD 499+ Checkup Starter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318D9-505C-4595-876C-3B6F90D7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2266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BFA9B-5EF8-4759-8E51-BD7C1118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909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rPr>
              <a:t>USD 1,500+ Companion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36685-FB98-41D1-BEF7-3E4DA7F4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rPr>
              <a:t>USD 1,500+ Companion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837441-3379-49A1-A80B-FCB79282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99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899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98942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6462E0-13D4-4CCF-9AB7-F9CA0308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D237A-CF9A-4622-A702-689B15D4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33847-B706-4F02-A7C5-26E14018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rPr>
              <a:t>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3EDF3-6433-4135-B33F-2C3FE155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rPr>
              <a:t>AI lowers cost, but humans protect quality and compliance.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DF313-4E15-49D4-9428-04A895F9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D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D78"/>
                </a:solidFill>
                <a:latin typeface="Aptos"/>
                <a:ea typeface="Aptos"/>
                <a:cs typeface="Aptos"/>
              </a:rPr>
              <a:t>AI handles OCR, summaries, terminology drafts, missing-document checks, quote drafts, and insurance checklists; reviewers approve client and hospital handoffs.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D2206-013A-4705-9E1E-27C1EF2F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1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AI prepares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C9E3A-599F-40D5-987F-0D853295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385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06C43-049C-4C7E-8525-1A2841F7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575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L1 coordinates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11F5B-2374-4B9E-B363-93CDFA0F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385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7B1D0-74BC-4107-94DB-AD7DADE8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575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L2 reviews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226DF-12FE-47A5-89E5-6D9B57AB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385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69FE8-E1C1-4FBE-A41A-409CF67C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575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L3 doctor/hospital escalates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4BD07-BC2E-49A3-85D5-B5572F0E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64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8364A"/>
                </a:solidFill>
                <a:latin typeface="Aptos Display"/>
                <a:ea typeface="Aptos Display"/>
                <a:cs typeface="Aptos Display"/>
              </a:rPr>
              <a:t>AI prepares the work. Humans approve the handoff.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51816-058D-41B9-AAA4-B5915314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99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899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838519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67C955-953D-4BDC-AA4C-AB64BA0B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A18C7-77B1-40F5-A6A2-109425D1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F36C2-4638-4C06-800C-CE7BB3D3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rPr>
              <a:t>ECONOMICS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C5144-7714-43D5-A286-C9902F64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rPr>
              <a:t>Profitability depends on standard files, not unlimited concierge labor.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96ACE-E28D-44AB-A581-F0CF4142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D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D78"/>
                </a:solidFill>
                <a:latin typeface="Aptos"/>
                <a:ea typeface="Aptos"/>
                <a:cs typeface="Aptos"/>
              </a:rPr>
              <a:t>Full visit-companion service can be profitable at high ticket sizes, but the repeatable margin engine is file preparation, insurance documents, and standardized checkups.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FEF09-FA80-485C-A9C3-1BD860DB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rPr>
              <a:t>Medical File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65183-A366-4F01-A034-A2E359E3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7E3AC-5A65-4C2E-BCD4-22503E6E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276034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74EAD-9F18-42B4-8D9B-42D8FC58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D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D78"/>
                </a:solidFill>
                <a:latin typeface="Aptos"/>
                <a:ea typeface="Aptos"/>
                <a:cs typeface="Aptos"/>
              </a:rPr>
              <a:t>~69% gross margin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5B8F2-42AC-47B9-A886-D5D565DA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rPr>
              <a:t>Checkup Starter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A1D84-02A6-4F44-AE44-57A2024A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00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FB4EC-B38E-4F13-9C84-A78E9EBA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0000"/>
            <a:ext cx="216027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71BA5-57F4-4EE4-97C9-DCE1F24B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D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D78"/>
                </a:solidFill>
                <a:latin typeface="Aptos"/>
                <a:ea typeface="Aptos"/>
                <a:cs typeface="Aptos"/>
              </a:rPr>
              <a:t>~54%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F22E5-C49B-4419-9985-8840D593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rPr>
              <a:t>Full Companion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C63E1-2101-47BE-B74F-2CD9D8C0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56A7E-F1B8-4742-9C04-B63774D3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14401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2C2351-4051-4B33-81DE-23E180EA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005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D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D78"/>
                </a:solidFill>
                <a:latin typeface="Aptos"/>
                <a:ea typeface="Aptos"/>
                <a:cs typeface="Aptos"/>
              </a:rPr>
              <a:t>26%-46%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B51B14-C3BE-4F41-A2D2-6F9D1CE2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rPr>
              <a:t>Break-even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69C0D-A435-4EAF-B890-A1C88EB8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435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FCF76-F05E-4BE2-BD1E-B6D468C4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43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3B37B3-7211-456F-B1C8-906E2A5A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6730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D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D78"/>
                </a:solidFill>
                <a:latin typeface="Aptos"/>
                <a:ea typeface="Aptos"/>
                <a:cs typeface="Aptos"/>
              </a:rPr>
              <a:t>~40-116 orders/month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B8AD05-9AC9-4234-9970-F04FC95F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99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899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603206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CF90D6-1B98-4E1B-8614-7B4943A2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5000F-2608-4102-8318-36FA70BC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BB266-E550-41D7-94E5-FC69480A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rPr>
              <a:t>COMPETITION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D4C69-63C3-435E-BAFE-3014CA18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rPr>
              <a:t>The market is proven but fragmented in China.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951FB-2E03-4FC4-B36E-4B1BA40F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D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D78"/>
                </a:solidFill>
                <a:latin typeface="Aptos"/>
                <a:ea typeface="Aptos"/>
                <a:cs typeface="Aptos"/>
              </a:rPr>
              <a:t>SinoHealth, MediLink, Orient Health, ChinaTravelMed and Lecheng each cover part of the value chain; global models prove the category at scale.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2A9CE-8EDC-46F4-BE6F-5C967A60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457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SinoHealth: high-end Shanghai concierge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79EDD-060A-4404-A9FC-659FB38C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6100"/>
            <a:ext cx="457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MediLink: transparent pricing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414A3-56D4-4C3F-9EFE-281BE4D8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457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Vaidam: case manager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4DBAC-8F8A-4CF4-80AB-A67A3242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29100"/>
            <a:ext cx="457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Bookimed/PlacidWay: marketplace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BC746-5CEA-4809-B81A-845CF4C5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rPr>
              <a:t>Opportunity: own the China-specific operating layer.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DF06D-90C1-4D33-992D-978D3F32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99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899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509009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3F816A-4C48-4FEB-9DB2-0D2F0096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2D4E4-94C4-4A07-9D7F-440FDEB4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8BFCA-9238-43E9-8BF9-725DD12F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rPr>
              <a:t>90-DAY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3E840-1280-49D9-882E-EBEF1CFC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212D"/>
                </a:solidFill>
                <a:latin typeface="Aptos Display"/>
                <a:ea typeface="Aptos Display"/>
                <a:cs typeface="Aptos Display"/>
              </a:rPr>
              <a:t>Validate willingness to pay before scaling hospital network depth.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15B03-F72E-4DF6-B74D-ADAE5CD8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D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D78"/>
                </a:solidFill>
                <a:latin typeface="Aptos"/>
                <a:ea typeface="Aptos"/>
                <a:cs typeface="Aptos"/>
              </a:rPr>
              <a:t>The first milestone is not traffic. It is paid file preparation, successful appointments, and clean hospital-arrival handoffs.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3C343-1F47-4BB9-83CD-09AD4561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B18C3-EE69-4176-84A6-F4174A77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100-200 qualified inquiries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D9E05-6095-4CA0-BD1E-049779E1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2AF22-641F-45BD-9868-F2D6B2C5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242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146C7-246C-4A3C-B889-CB4EEF5C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052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20-40 paid customers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EC010-31BA-42FD-A338-04625050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43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F8A86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7DDDE-3EBF-4A4C-AF12-5EE2EC91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242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45609-9FF5-4E33-99F2-013E6B99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052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5-10 hospital visits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7E376-77C4-414A-9EFC-376C5229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43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8B2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58B2D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7E5BB-1AF1-4E12-87EE-C6C797A8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242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1156E-D3AE-4DB3-937F-81F6F285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052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1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12D"/>
                </a:solidFill>
                <a:latin typeface="Aptos"/>
                <a:ea typeface="Aptos"/>
                <a:cs typeface="Aptos"/>
              </a:rPr>
              <a:t>2-3 B2B leads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D9B1F-2C4A-4C1F-9DDD-6299C840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43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8B2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58B2D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5A40E9-E48A-49E9-8A75-363F9E78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99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899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2926673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0F2ED4-DF4C-4E0C-AB2A-3280B76F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E823E-7E28-424F-AFE7-EEEECDB1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2C7AF-A763-44D5-A049-74289EEF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62000"/>
            <a:ext cx="3048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A33B0-C5F7-4355-BBEB-6076357D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D5D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9BD5D0"/>
                </a:solidFill>
                <a:latin typeface="Aptos Display"/>
                <a:ea typeface="Aptos Display"/>
                <a:cs typeface="Aptos Display"/>
              </a:rPr>
              <a:t>NEXT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F21C8-880E-481F-A9E3-010195C7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6858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Build a paid pilot around three landing pages and five reliable providers.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643C5-8B05-4731-BEB2-E94DFB60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E8E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8E7"/>
                </a:solidFill>
                <a:latin typeface="Aptos"/>
                <a:ea typeface="Aptos"/>
                <a:cs typeface="Aptos"/>
              </a:rPr>
              <a:t>Use the site, reports, and SOP to sign supply, run targeted tests, and turn the first cases into operating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C12A1-B1BA-40BF-BA6C-8CC64D6E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781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 5-8 providers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15BC5-9F81-41BD-AC6B-38458226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62500"/>
            <a:ext cx="2781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Recruit translator pool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BD1AC-21DF-4BE4-9690-6B5A5DE9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2781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Launch paid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6F5CD-1446-45BC-8C6E-184D6C32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543550"/>
            <a:ext cx="2781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D9E3E3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 unit economics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E2C90-7D96-47DC-BEA4-0D2CFACF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8E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CE8E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2840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2026-06-04T08:23:06.5320000Z</dcterms:created>
  <dcterms:modified xsi:type="dcterms:W3CDTF">2026-06-04T08:23:06.5320000Z</dcterms:modified>
</coreProperties>
</file>